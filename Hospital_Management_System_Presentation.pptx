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184648" y="822960"/>
            <a:ext cx="1828800" cy="18288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0" y="868680"/>
            <a:ext cx="16459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FFFFFF"/>
                </a:solidFill>
                <a:latin typeface="Calibri"/>
              </a:rPr>
              <a:t>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Calibri"/>
              </a:rPr>
              <a:t>HOSPITAL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10698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4A3B8"/>
                </a:solidFill>
                <a:latin typeface="Calibri"/>
              </a:rPr>
              <a:t>A Web-Based Enterprise Platform using Java Spring Boot, Spring Data JPA, H2 Database &amp; SPA Dashboard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4206240"/>
            <a:ext cx="5760720" cy="36576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434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D4AA"/>
                </a:solidFill>
                <a:latin typeface="Calibri"/>
              </a:rPr>
              <a:t>Presented by: S Aditya  |  Enrollment: 22STUCRPN01019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548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M.Sc. Computer Science  |  ICFAI University, Raipur (C.G.)  |  Session: 2024–26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Table of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Calibri"/>
              </a:rPr>
              <a:t>What We Will Cover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600200"/>
            <a:ext cx="411480" cy="402336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60020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256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212848"/>
            <a:ext cx="411480" cy="402336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221284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2382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Objectives &amp; Scope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825496"/>
            <a:ext cx="411480" cy="402336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82549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8508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Theoretical Background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438144"/>
            <a:ext cx="411480" cy="402336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343814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46354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System Architecture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050791"/>
            <a:ext cx="411480" cy="402336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4050791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07619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Patient &amp; Doctor Management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4663440"/>
            <a:ext cx="411480" cy="402336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4663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6888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Appointment &amp; Billing System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5276088"/>
            <a:ext cx="411480" cy="402336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52760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6384" y="53014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REST API Design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" y="5888736"/>
            <a:ext cx="411480" cy="402336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588873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91413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SPA Dashboard &amp; UI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63640" y="1600200"/>
            <a:ext cx="411480" cy="402336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60020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9984" y="162560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Database Design (JPA / H2)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2212848"/>
            <a:ext cx="411480" cy="402336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221284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29984" y="223824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Data Seeder &amp; Testing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2825496"/>
            <a:ext cx="411480" cy="402336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2825496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9984" y="2850896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Security &amp; Validation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63640" y="3438144"/>
            <a:ext cx="411480" cy="402336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263640" y="3438144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9984" y="3463544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Deployment Strategy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63640" y="4050791"/>
            <a:ext cx="411480" cy="402336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4050791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9984" y="4076191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Real-World Clinical Evaluation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63640" y="4663440"/>
            <a:ext cx="411480" cy="402336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263640" y="4663440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9984" y="4688840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Limitations &amp; Future Scope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263640" y="5276088"/>
            <a:ext cx="411480" cy="402336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263640" y="5276088"/>
            <a:ext cx="4114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729984" y="5301488"/>
            <a:ext cx="53035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  <a:latin typeface="Calibri"/>
              </a:rPr>
              <a:t>Conclusion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Introduction &amp;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72B6"/>
                </a:solidFill>
                <a:latin typeface="Calibri"/>
              </a:rPr>
              <a:t>Why does this system exist?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11521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  <a:latin typeface="Calibri"/>
              </a:rPr>
              <a:t>Traditional healthcare facilities — especially localized clinics and smaller hospitals — suffer from fragmented and siloed operational workflows. Doctor availability scheduling, patient history logging, and billing generation are all handled in isolation, causing transcription errors, appointment conflicts, double-booking, and revenue loss.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2606040"/>
            <a:ext cx="2743200" cy="34290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CFF"/>
                </a:solidFill>
                <a:latin typeface="Calibri"/>
              </a:rPr>
              <a:t>📋  Information Silos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21868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Ward nurses, doctors, and billing clerks work on separate systems (paper registers, prescription pads, manual ledgers) with no synchronization.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82696" y="2606040"/>
            <a:ext cx="2743200" cy="34290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9856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📅  Scheduling Conflicts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321868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Appointments are booked without real-time visibility into doctor availability — resulting in overbooking, long queues, and clinician fatigue.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45352" y="2606040"/>
            <a:ext cx="2743200" cy="342900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💸  Billing Omissions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321868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Completed consultations must be manually reported to the billing counter. Patients leaving unnotified leads to direct revenue loss for the clinic.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208008" y="2606040"/>
            <a:ext cx="2743200" cy="342900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45168" y="274320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📉  No Live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45168" y="3218688"/>
            <a:ext cx="246888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Clinic managers have zero real-time insight into daily doctor workload, patient age demographics, diagnostic patterns, or revenue indicators.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Objectives &amp;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CFF"/>
                </a:solidFill>
                <a:latin typeface="Calibri"/>
              </a:rPr>
              <a:t>Core goals and boundaries of the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7315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F8CFF"/>
                </a:solidFill>
                <a:latin typeface="Calibri"/>
              </a:rPr>
              <a:t>Project Objectives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274320" cy="274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48840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10312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Integrated Operations – Bridge gaps between patient registration, doctor scheduling, appointment logging, and invoicing in one synchronized platform.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953512"/>
            <a:ext cx="274320" cy="274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953512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2907791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Automated Invoicing – Business rule engine that auto-triggers a ₹150 billing record whenever a doctor marks a consultation COMPLETED.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758184"/>
            <a:ext cx="274320" cy="274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758184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3712463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Persistent Data Storage – Normalized schema via Spring Data JPA and H2 file-based storage; zero database setup, data preserved across restarts.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62856"/>
            <a:ext cx="274320" cy="274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62856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4517136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Premium SPA Dashboard – Modern UI with real-time KPI metrics, age &amp; revenue charts, and glassmorphic dark/light theming.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367528"/>
            <a:ext cx="274320" cy="274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5367528"/>
            <a:ext cx="27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A0F1E"/>
                </a:solidFill>
                <a:latin typeface="Calibri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321808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  <a:latin typeface="Calibri"/>
              </a:rPr>
              <a:t>Clerical Efficiency – Enable ward managers, billing clerks, and medical officers to quickly search, schedule, update, and audit clinical records.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818120" y="1554480"/>
            <a:ext cx="4069080" cy="27432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1000" y="1691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Project Scope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214884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Localized hospitals and multi-department clinics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Full lifecycle: registration → scheduling → billing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End-to-end: POM config → JPA → REST → SPA UI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Intra-clinic network deployment via H2 AUTO_SERVER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Single-tenant; no multi-hospital partition needed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18120" y="4434840"/>
            <a:ext cx="4069080" cy="201168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45720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72B6"/>
                </a:solidFill>
                <a:latin typeface="Calibri"/>
              </a:rPr>
              <a:t>Known Limitations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01000" y="4983480"/>
            <a:ext cx="37490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⚠ Single-tenant only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⚠ H2 → PostgreSQL for multi-hospital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⚠ No payment gateway (mocked)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⚠ Auth is 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Theoretical Background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55F7"/>
                </a:solidFill>
                <a:latin typeface="Calibri"/>
              </a:rPr>
              <a:t>Core frameworks and technologies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794760" cy="219456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276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CFF"/>
                </a:solidFill>
                <a:latin typeface="Calibri"/>
              </a:rPr>
              <a:t>☕  Java 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8483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Modern LTS JDK with enhanced performance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Records, sealed classes, virtual threads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Fully supported by Spring Boot 3.x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59" y="1554480"/>
            <a:ext cx="3794760" cy="219456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19" y="16276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🍃  Spring Boot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19" y="208483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Auto-configuration of Spring beans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Embedded Tomcat — no external server needed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Starter dependency management via POM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554480"/>
            <a:ext cx="3794760" cy="219456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2763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🗃️  Spring Data JPA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08483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JpaRepository auto-generates CRUD SQL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@Entity, @ManyToOne ORM annotations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Hibernate ORM as reference implementation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31920"/>
            <a:ext cx="3794760" cy="219456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40050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💾  H2 Database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446227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Lightweight Java-native relational DB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File mode: jdbc:h2:file:./hospital_db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AUTO_SERVER for external tool access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51959" y="3931920"/>
            <a:ext cx="3794760" cy="219456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19" y="40050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CFF"/>
                </a:solidFill>
                <a:latin typeface="Calibri"/>
              </a:rPr>
              <a:t>🌐  SPA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19" y="446227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Static HTML + JavaScript fetch() calls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Dynamic JSON rendering without page reload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REST endpoints serve raw JSON 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931920"/>
            <a:ext cx="3794760" cy="219456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66760" y="4005072"/>
            <a:ext cx="3520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📊  Chart.js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462272"/>
            <a:ext cx="352044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Doughnut &amp; bar charts for analytics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Age distribution, revenue breakdown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• Rendered inside the SPA dashboard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Calibri"/>
              </a:rPr>
              <a:t>Full end-to-end stack used in this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1E"/>
                </a:solidFill>
                <a:latin typeface="Calibri"/>
              </a:rPr>
              <a:t>BACKEND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203704"/>
            <a:ext cx="228600" cy="2286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148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Java 21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07792"/>
            <a:ext cx="228600" cy="2286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8529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Spring Boot 3.4.1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11880"/>
            <a:ext cx="228600" cy="2286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Spring Web (REST)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15968"/>
            <a:ext cx="228600" cy="2286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2611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Bean Validation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20056"/>
            <a:ext cx="228600" cy="2286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496519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Hibernate ORM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724144"/>
            <a:ext cx="228600" cy="2286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56692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Apache Maven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004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1E"/>
                </a:solidFill>
                <a:latin typeface="Calibri"/>
              </a:rPr>
              <a:t>DATABASE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429000" y="2203704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749040" y="2148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H2 Relational DB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429000" y="2907792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40" y="28529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File-based persistence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29000" y="3611880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49040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AUTO_SERVER mode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429000" y="4315968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749040" y="42611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DDL auto-update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429000" y="5020056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49040" y="496519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H2 Web Console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429000" y="5724144"/>
            <a:ext cx="228600" cy="2286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749040" y="56692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JDBC SQL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2648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1E"/>
                </a:solidFill>
                <a:latin typeface="Calibri"/>
              </a:rPr>
              <a:t>FRONTEND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5080" y="2203704"/>
            <a:ext cx="228600" cy="2286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75120" y="2148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HTML5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2907792"/>
            <a:ext cx="228600" cy="2286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28529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Vanilla CSS3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355080" y="3611880"/>
            <a:ext cx="228600" cy="2286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75120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JavaScript (ES6+)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355080" y="4315968"/>
            <a:ext cx="228600" cy="2286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42611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Fetch API (AJAX)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355080" y="5020056"/>
            <a:ext cx="228600" cy="2286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75120" y="496519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Chart.js 4.x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5724144"/>
            <a:ext cx="228600" cy="2286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75120" y="56692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Glassmorphism UI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5256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9052560" y="1554480"/>
            <a:ext cx="2743200" cy="4572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5256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A0F1E"/>
                </a:solidFill>
                <a:latin typeface="Calibri"/>
              </a:rPr>
              <a:t>DEVOPS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281160" y="2203704"/>
            <a:ext cx="228600" cy="2286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0" y="214884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Git + GitHub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81160" y="2907792"/>
            <a:ext cx="228600" cy="2286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601200" y="2852928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Docker + Compose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281160" y="3611880"/>
            <a:ext cx="228600" cy="2286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9601200" y="3557016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Render (Cloud)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281160" y="4315968"/>
            <a:ext cx="228600" cy="2286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601200" y="4261104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Maven Wrapper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281160" y="5020056"/>
            <a:ext cx="228600" cy="2286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601200" y="4965192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JAR packaging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81160" y="5724144"/>
            <a:ext cx="228600" cy="2286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601200" y="5669280"/>
            <a:ext cx="2057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E2E8F0"/>
                </a:solidFill>
                <a:latin typeface="Calibri"/>
              </a:rPr>
              <a:t>render.yaml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8CFF"/>
                </a:solidFill>
                <a:latin typeface="Calibri"/>
              </a:rPr>
              <a:t>Three-layer REST architecture with SPA frontend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1097280" y="1600200"/>
            <a:ext cx="5669280" cy="713232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97280" y="1600200"/>
            <a:ext cx="109728" cy="713232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25880" y="1655064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CFF"/>
                </a:solidFill>
                <a:latin typeface="Calibri"/>
              </a:rPr>
              <a:t>🌐  SPA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198424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HTML5 + Vanilla CSS3 + JavaScript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0" y="2496312"/>
            <a:ext cx="121889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94A3B8"/>
                </a:solidFill>
                <a:latin typeface="Calibri"/>
              </a:rPr>
              <a:t>⬇ REST / JSON API 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97280" y="3575304"/>
            <a:ext cx="5669280" cy="713232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97280" y="3575304"/>
            <a:ext cx="109728" cy="713232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630168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⚙️  Spring Boot Controllers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5935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@RestController — Route &amp; Validate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97280" y="4562856"/>
            <a:ext cx="5669280" cy="713232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97280" y="4562856"/>
            <a:ext cx="109728" cy="713232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4617720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🔗  Spring Data JPA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9469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@Repository — ORM / Hibernate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097280" y="5550408"/>
            <a:ext cx="5669280" cy="713232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97280" y="5550408"/>
            <a:ext cx="109728" cy="713232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5605272"/>
            <a:ext cx="5212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💾  H2 File Database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93445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hospital_db.mv.db — Persistent Storage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23760" y="1600200"/>
            <a:ext cx="4663440" cy="100584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06640" y="167335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F8CFF"/>
                </a:solidFill>
                <a:latin typeface="Calibri"/>
              </a:rPr>
              <a:t>Frontend Layer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06640" y="19842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SPA serves from /static. JS fetch() hits /api/* endpoints and renders JSON into the DOM dynamically.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2880360"/>
            <a:ext cx="4663440" cy="100584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295351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D4AA"/>
                </a:solidFill>
                <a:latin typeface="Calibri"/>
              </a:rPr>
              <a:t>Controller Layer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326440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@RestController classes map HTTP verbs to methods. @Valid ensures Bean Validation before processing.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223760" y="4160520"/>
            <a:ext cx="4663440" cy="100584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0" y="4233672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  <a:latin typeface="Calibri"/>
              </a:rPr>
              <a:t>Repository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06640" y="454456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JpaRepository auto-generates all CRUD SQL. No boilerplate needed — method naming drives queries.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23760" y="5440679"/>
            <a:ext cx="4663440" cy="100584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06640" y="5513831"/>
            <a:ext cx="4389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72B6"/>
                </a:solidFill>
                <a:latin typeface="Calibri"/>
              </a:rPr>
              <a:t>Database Layer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06640" y="5824727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Calibri"/>
              </a:rPr>
              <a:t>H2 persists data to hospital_db.mv.db in the working directory. Zero installation required.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Patient &amp; Doctor Management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Calibri"/>
              </a:rPr>
              <a:t>Core entity modules — Module 1 &amp; Module 2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CFF"/>
                </a:solidFill>
                <a:latin typeface="Calibri"/>
              </a:rPr>
              <a:t>👤  Patient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1206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Register patients: name, DOB, gender, email, phone, address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Medical history stored as free-text per patient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Real-time search and filter in the SPA table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Full CRUD — create, view, update, delete records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5 sample patients seeded on startup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Input validated: @NotBlank, @Email annotations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394960"/>
            <a:ext cx="1691640" cy="292608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Name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5394960"/>
            <a:ext cx="1691640" cy="292608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Gender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5394960"/>
            <a:ext cx="1691640" cy="292608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5394960"/>
            <a:ext cx="1691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Condition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687568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68756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James Smith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94560" y="5687568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568756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Male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5687568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40" y="5687568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Hypertension, Asthma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34456"/>
            <a:ext cx="169164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93445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Emily Davis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194560" y="5934456"/>
            <a:ext cx="169164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40280" y="593445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Female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5934456"/>
            <a:ext cx="169164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77640" y="5934456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Penicillin allergy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181344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2920" y="618134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Robert Johnson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194560" y="6181344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40280" y="618134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Male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6181344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977640" y="6181344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Type 2 Diabetes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428232"/>
            <a:ext cx="169164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42823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Linda Taylor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194560" y="6428232"/>
            <a:ext cx="169164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240280" y="642823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Female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6428232"/>
            <a:ext cx="169164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977640" y="6428232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General checkup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6675120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667512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Michael Brown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2194560" y="6675120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80" y="667512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Male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6675120"/>
            <a:ext cx="169164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77640" y="6675120"/>
            <a:ext cx="16002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Seasonal allergies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1554480"/>
            <a:ext cx="57150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5508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👨‍⚕️  Doctor Module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55080" y="2194560"/>
            <a:ext cx="5394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Manage doctor profiles: name, specialization, room, availability schedule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5 pre-seeded doctors across 5 specializations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Availability displayed as slot text (e.g., Mon–Wed: 9 AM – 4 PM)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Full CRUD — create, view, update, delete doctor records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3977639"/>
            <a:ext cx="1783080" cy="292608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55080" y="397763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Doctor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3977639"/>
            <a:ext cx="1783080" cy="292608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183880" y="397763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Specialization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12680" y="3977639"/>
            <a:ext cx="1783080" cy="292608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012680" y="3977639"/>
            <a:ext cx="1783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Room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355080" y="4270247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00800" y="4270247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Dr. Sarah Connor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183880" y="4270247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8229600" y="4270247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Cardiology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012680" y="4270247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8400" y="4270247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A-101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55080" y="4517135"/>
            <a:ext cx="17830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4517135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Dr. John Watson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80" y="4517135"/>
            <a:ext cx="17830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229600" y="4517135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Pediatrics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12680" y="4517135"/>
            <a:ext cx="17830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058400" y="4517135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B-205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55080" y="4764023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400800" y="4764023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Dr. Gregory House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183880" y="4764023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229600" y="4764023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Neurology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10012680" y="4764023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58400" y="4764023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C-310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55080" y="5010911"/>
            <a:ext cx="17830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400800" y="5010911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Dr. Meredith Grey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183880" y="5010911"/>
            <a:ext cx="17830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8229600" y="5010911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General Medicine</a:t>
            </a:r>
          </a:p>
        </p:txBody>
      </p:sp>
      <p:sp>
        <p:nvSpPr>
          <p:cNvPr id="76" name="Rectangle 75"/>
          <p:cNvSpPr/>
          <p:nvPr/>
        </p:nvSpPr>
        <p:spPr>
          <a:xfrm>
            <a:off x="10012680" y="5010911"/>
            <a:ext cx="17830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10058400" y="5010911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A-105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55080" y="5257799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6400800" y="5257799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Dr. Stephen Strange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183880" y="5257799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229600" y="5257799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Orthopedics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012680" y="5257799"/>
            <a:ext cx="17830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058400" y="5257799"/>
            <a:ext cx="1691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D-404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Appointment &amp; Billing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55F7"/>
                </a:solidFill>
                <a:latin typeface="Calibri"/>
              </a:rPr>
              <a:t>Smart scheduling with auto-invoice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A855F7"/>
                </a:solidFill>
                <a:latin typeface="Calibri"/>
              </a:rPr>
              <a:t>📅  Appointment Module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2120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Book appointments by linking Patient ↔ Doctor with date/time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Status lifecycle: PENDING  →  COMPLETED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Add diagnosis and prescription notes post-consultation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Completing an appointment auto-triggers a $150 billing record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5 sample appointments seeded: 3 completed, 2 pending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Full CRUD: create, list, update, delete appointments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800600"/>
            <a:ext cx="5212080" cy="36576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489204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855F7"/>
                </a:solidFill>
                <a:latin typeface="Calibri"/>
              </a:rPr>
              <a:t>⚡  Auto-Billing Trigger Flow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5303520"/>
            <a:ext cx="1188720" cy="4572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PENDING Appt.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5367528"/>
            <a:ext cx="109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755648" y="5303520"/>
            <a:ext cx="1188720" cy="4572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755648" y="5303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PUT /complete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44368" y="5367528"/>
            <a:ext cx="109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54096" y="5303520"/>
            <a:ext cx="1188720" cy="4572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54096" y="5303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Status → COMPLETED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42816" y="5367528"/>
            <a:ext cx="10972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52544" y="5303520"/>
            <a:ext cx="1188720" cy="45720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52544" y="5303520"/>
            <a:ext cx="1188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Billing auto-created ($150)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1554480"/>
            <a:ext cx="57150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472B6"/>
                </a:solidFill>
                <a:latin typeface="Calibri"/>
              </a:rPr>
              <a:t>💳  Billing Module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2194560"/>
            <a:ext cx="539496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Auto-generated $150 invoice per completed appointment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Status tracking: PAID / UNPAID per record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Insurance provider field stored per invoice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Manual billing also supported for lab work &amp; utilities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Filter bills by patient, status, or date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55080" y="4663440"/>
            <a:ext cx="1325880" cy="274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663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Patient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26680" y="4663440"/>
            <a:ext cx="1325880" cy="274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26680" y="4663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Amount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098280" y="4663440"/>
            <a:ext cx="1325880" cy="274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98280" y="4663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10469880" y="4663440"/>
            <a:ext cx="1325880" cy="274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469880" y="46634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1E"/>
                </a:solidFill>
                <a:latin typeface="Calibri"/>
              </a:rPr>
              <a:t>Insurance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5080" y="4937760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91656" y="4937760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James Smith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26680" y="4937760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63256" y="4937760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$150.00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98280" y="4937760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34856" y="4937760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AA"/>
                </a:solidFill>
                <a:latin typeface="Calibri"/>
              </a:rPr>
              <a:t>PAID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469880" y="4937760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506456" y="4937760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Blue Cross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55080" y="5184648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91656" y="5184648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Emily Davis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726680" y="5184648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763256" y="5184648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$150.00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098280" y="5184648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34856" y="5184648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72B6"/>
                </a:solidFill>
                <a:latin typeface="Calibri"/>
              </a:rPr>
              <a:t>UNPAID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10469880" y="5184648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06456" y="5184648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None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355080" y="5431536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91656" y="5431536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Robert Johnson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26680" y="5431536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763256" y="5431536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$150.00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098280" y="5431536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134856" y="5431536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0D4AA"/>
                </a:solidFill>
                <a:latin typeface="Calibri"/>
              </a:rPr>
              <a:t>PAID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0469880" y="5431536"/>
            <a:ext cx="1325880" cy="246888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506456" y="5431536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Aetna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355080" y="5678424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91656" y="56784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James Smith</a:t>
            </a:r>
          </a:p>
        </p:txBody>
      </p:sp>
      <p:sp>
        <p:nvSpPr>
          <p:cNvPr id="59" name="Rectangle 58"/>
          <p:cNvSpPr/>
          <p:nvPr/>
        </p:nvSpPr>
        <p:spPr>
          <a:xfrm>
            <a:off x="7726680" y="5678424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763256" y="56784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$75.00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98280" y="5678424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34856" y="56784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472B6"/>
                </a:solidFill>
                <a:latin typeface="Calibri"/>
              </a:rPr>
              <a:t>UNPAID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469880" y="5678424"/>
            <a:ext cx="1325880" cy="246888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506456" y="5678424"/>
            <a:ext cx="1252728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E2E8F0"/>
                </a:solidFill>
                <a:latin typeface="Calibri"/>
              </a:rPr>
              <a:t>Blue Cross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REST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Calibri"/>
              </a:rPr>
              <a:t>Complete endpoint reference for all modules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1152144" cy="347472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" y="1554480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1E"/>
                </a:solidFill>
                <a:latin typeface="Calibri"/>
              </a:rPr>
              <a:t>Method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0" y="1554480"/>
            <a:ext cx="4352544" cy="347472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36192" y="1554480"/>
            <a:ext cx="4389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1E"/>
                </a:solidFill>
                <a:latin typeface="Calibri"/>
              </a:rPr>
              <a:t>Endpoint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554480"/>
            <a:ext cx="6089904" cy="347472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25312" y="1554480"/>
            <a:ext cx="6126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A0F1E"/>
                </a:solidFill>
                <a:latin typeface="Calibri"/>
              </a:rPr>
              <a:t>Description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901952"/>
            <a:ext cx="11521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" y="191465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GET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63040" y="1901952"/>
            <a:ext cx="43525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36192" y="1914652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/api/patients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1901952"/>
            <a:ext cx="608990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25312" y="1914652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Retrieve all patient records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86000"/>
            <a:ext cx="11521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" y="229870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CFF"/>
                </a:solidFill>
                <a:latin typeface="Calibri"/>
              </a:rPr>
              <a:t>POST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0" y="2286000"/>
            <a:ext cx="43525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536192" y="2298700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/api/patients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52160" y="2286000"/>
            <a:ext cx="608990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25312" y="2298700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Register a new patient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670048"/>
            <a:ext cx="11521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47472" y="268274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"/>
              </a:rPr>
              <a:t>PUT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463040" y="2670048"/>
            <a:ext cx="43525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536192" y="2682748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/api/patients/{id}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852160" y="2670048"/>
            <a:ext cx="608990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25312" y="2682748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Update patient information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054096"/>
            <a:ext cx="11521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" y="306679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72B6"/>
                </a:solidFill>
                <a:latin typeface="Calibri"/>
              </a:rPr>
              <a:t>DELETE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463040" y="3054096"/>
            <a:ext cx="43525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36192" y="3066796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/api/patients/{id}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0" y="3054096"/>
            <a:ext cx="608990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925312" y="3066796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Delete a patient record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438144"/>
            <a:ext cx="11521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47472" y="345084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GET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463040" y="3438144"/>
            <a:ext cx="43525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536192" y="3450844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/api/doctors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852160" y="3438144"/>
            <a:ext cx="608990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925312" y="3450844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List all doctors and availability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3822192"/>
            <a:ext cx="11521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" y="383489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CFF"/>
                </a:solidFill>
                <a:latin typeface="Calibri"/>
              </a:rPr>
              <a:t>POST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463040" y="3822192"/>
            <a:ext cx="43525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536192" y="3834892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/api/doctors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852160" y="3822192"/>
            <a:ext cx="608990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925312" y="3834892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Create a new doctor profile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206240"/>
            <a:ext cx="11521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7472" y="421894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GET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463040" y="4206240"/>
            <a:ext cx="43525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536192" y="4218940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/api/appointments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852160" y="4206240"/>
            <a:ext cx="608990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925312" y="4218940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Get all appointment records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4590288"/>
            <a:ext cx="11521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347472" y="4602988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8CFF"/>
                </a:solidFill>
                <a:latin typeface="Calibri"/>
              </a:rPr>
              <a:t>POST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463040" y="4590288"/>
            <a:ext cx="43525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536192" y="4602988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/api/appointments</a:t>
            </a:r>
          </a:p>
        </p:txBody>
      </p:sp>
      <p:sp>
        <p:nvSpPr>
          <p:cNvPr id="58" name="Rectangle 57"/>
          <p:cNvSpPr/>
          <p:nvPr/>
        </p:nvSpPr>
        <p:spPr>
          <a:xfrm>
            <a:off x="5852160" y="4590288"/>
            <a:ext cx="608990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925312" y="4602988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Book a new appointment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74320" y="4974336"/>
            <a:ext cx="11521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347472" y="4987036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"/>
              </a:rPr>
              <a:t>PUT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463040" y="4974336"/>
            <a:ext cx="43525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536192" y="4987036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/api/appointments/{id}/complete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852160" y="4974336"/>
            <a:ext cx="608990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925312" y="4987036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Mark as COMPLETED → auto-triggers billing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4320" y="5358384"/>
            <a:ext cx="11521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47472" y="5371084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GET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463040" y="5358384"/>
            <a:ext cx="43525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536192" y="5371084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/api/billing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852160" y="5358384"/>
            <a:ext cx="608990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925312" y="5371084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Retrieve all billing records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74320" y="5742432"/>
            <a:ext cx="11521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347472" y="5755132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855F7"/>
                </a:solidFill>
                <a:latin typeface="Calibri"/>
              </a:rPr>
              <a:t>PUT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463040" y="5742432"/>
            <a:ext cx="435254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1536192" y="5755132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/api/billing/{id}/pay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852160" y="5742432"/>
            <a:ext cx="6089904" cy="36576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925312" y="5755132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Mark an invoice as PAID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6126480"/>
            <a:ext cx="11521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347472" y="6139180"/>
            <a:ext cx="10789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GET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463040" y="6126480"/>
            <a:ext cx="435254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536192" y="6139180"/>
            <a:ext cx="427939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F8CFF"/>
                </a:solidFill>
                <a:latin typeface="Calibri"/>
              </a:rPr>
              <a:t>/api/stats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852160" y="6126480"/>
            <a:ext cx="6089904" cy="365760"/>
          </a:xfrm>
          <a:prstGeom prst="rect">
            <a:avLst/>
          </a:prstGeom>
          <a:solidFill>
            <a:srgbClr val="141F3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925312" y="6139180"/>
            <a:ext cx="601675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E2E8F0"/>
                </a:solidFill>
                <a:latin typeface="Calibri"/>
              </a:rPr>
              <a:t>Live KPI metrics for dashboard widgets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SPA Dashboard &amp; UI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72B6"/>
                </a:solidFill>
                <a:latin typeface="Calibri"/>
              </a:rPr>
              <a:t>Premium single-page interface with real-time analytics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5577840" cy="1572768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CFF"/>
                </a:solidFill>
                <a:latin typeface="Calibri"/>
              </a:rPr>
              <a:t>🌓  Dark / Light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0848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CSS custom properties (variables) allow seamless theme switching with no page reload.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554480"/>
            <a:ext cx="5577840" cy="1572768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6459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📊  Live KPI Cards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2084832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Patients, Doctors, Appointments, Revenue counters updated in real-time via /api/stats.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64408"/>
            <a:ext cx="5577840" cy="1572768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1480" y="33558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📈  Chart.js Analytics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3794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Bar chart for patient age distribution; doughnut chart for billing status breakdown.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3264408"/>
            <a:ext cx="5577840" cy="1572768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335584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72B6"/>
                </a:solidFill>
                <a:latin typeface="Calibri"/>
              </a:rPr>
              <a:t>🔍  Real-time Search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94760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Instant filter across all data tables — patient name, doctor specialization, bill status.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974336"/>
            <a:ext cx="5577840" cy="1572768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5065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8CFF"/>
                </a:solidFill>
                <a:latin typeface="Calibri"/>
              </a:rPr>
              <a:t>📋  CRUD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" y="550468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All entity forms embedded in-page; no page transitions. Smooth SPA experience.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17920" y="4974336"/>
            <a:ext cx="5577840" cy="1572768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5065776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💎  Glassmorphism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5504688"/>
            <a:ext cx="5303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Frosted glass effect cards with backdrop-filter, subtle borders and gradient highlights.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400800"/>
            <a:ext cx="2788920" cy="384048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4F8CFF"/>
                </a:solidFill>
                <a:latin typeface="Calibri"/>
              </a:rPr>
              <a:t>5  Patients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55263" y="6400800"/>
            <a:ext cx="2788920" cy="384048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55263" y="64008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5  Doctors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36207" y="6400800"/>
            <a:ext cx="2788920" cy="384048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236207" y="64008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A855F7"/>
                </a:solidFill>
                <a:latin typeface="Calibri"/>
              </a:rPr>
              <a:t>5  Appointments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17152" y="6400800"/>
            <a:ext cx="2788920" cy="384048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17152" y="6400800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472B6"/>
                </a:solidFill>
                <a:latin typeface="Calibri"/>
              </a:rPr>
              <a:t>$525  Revenue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11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Database Design — JPA &amp; H2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855F7"/>
                </a:solidFill>
                <a:latin typeface="Calibri"/>
              </a:rPr>
              <a:t>Entity mapping and relational schema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2743200" cy="41148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PATIENT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310896" y="2029968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0426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4F8CFF"/>
                </a:solidFill>
                <a:latin typeface="Calibri"/>
              </a:rPr>
              <a:t>id  BIGINT (PK)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" y="2368296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3809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name  VARCHAR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10896" y="2706624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4048" y="27193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date_of_birth  VARCHAR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6" y="3044952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0576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gender  VARCHAR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3383280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33959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email  VARCHAR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6" y="3721608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7343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phone  VARCHAR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0896" y="4059935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07263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address  VARCHAR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6" y="4398264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4048" y="44109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medical_history  TEXT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46120" y="1554480"/>
            <a:ext cx="2743200" cy="41148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4612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DOCTOR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82696" y="2029968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355848" y="20426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00D4AA"/>
                </a:solidFill>
                <a:latin typeface="Calibri"/>
              </a:rPr>
              <a:t>id  BIGINT (PK)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82696" y="2368296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55848" y="23809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name  VARCHAR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82696" y="2706624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355848" y="27193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specialization  VARCHAR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82696" y="3044952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55848" y="30576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email  VARCHAR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82696" y="3383280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355848" y="33959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phone  VARCHAR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82696" y="3721608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55848" y="37343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availability  VARCHAR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82696" y="4059935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55848" y="407263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room_number  VARCHAR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1792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217920" y="1554480"/>
            <a:ext cx="2743200" cy="41148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21792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APPOINTMENT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254496" y="2029968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27648" y="20426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id  BIGINT (PK)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2368296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27648" y="23809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patient_id  FK → PATIENT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54496" y="2706624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27648" y="27193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A855F7"/>
                </a:solidFill>
                <a:latin typeface="Calibri"/>
              </a:rPr>
              <a:t>doctor_id  FK → DOCTOR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54496" y="3044952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27648" y="30576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date_time  VARCHAR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54496" y="3383280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327648" y="33959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status  VARCHAR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254496" y="3721608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327648" y="37343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symptoms  VARCHAR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254496" y="4059935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327648" y="407263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diagnosis  TEXT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54496" y="4398264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27648" y="441096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prescription  TEXT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189720" y="1554480"/>
            <a:ext cx="27432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189720" y="1554480"/>
            <a:ext cx="2743200" cy="41148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189720" y="15544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A0F1E"/>
                </a:solidFill>
                <a:latin typeface="Calibri"/>
              </a:rPr>
              <a:t>BILLING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226296" y="2029968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99448" y="204266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  <a:latin typeface="Calibri"/>
              </a:rPr>
              <a:t>id  BIGINT (PK)</a:t>
            </a:r>
          </a:p>
        </p:txBody>
      </p:sp>
      <p:sp>
        <p:nvSpPr>
          <p:cNvPr id="66" name="Rectangle 65"/>
          <p:cNvSpPr/>
          <p:nvPr/>
        </p:nvSpPr>
        <p:spPr>
          <a:xfrm>
            <a:off x="9226296" y="2368296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9299448" y="238099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  <a:latin typeface="Calibri"/>
              </a:rPr>
              <a:t>patient_id  FK → PATIENT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226296" y="2706624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299448" y="271932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472B6"/>
                </a:solidFill>
                <a:latin typeface="Calibri"/>
              </a:rPr>
              <a:t>appointment_id  FK → APPOINTMENT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226296" y="3044952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299448" y="305765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amount  DOUBLE</a:t>
            </a:r>
          </a:p>
        </p:txBody>
      </p:sp>
      <p:sp>
        <p:nvSpPr>
          <p:cNvPr id="72" name="Rectangle 71"/>
          <p:cNvSpPr/>
          <p:nvPr/>
        </p:nvSpPr>
        <p:spPr>
          <a:xfrm>
            <a:off x="9226296" y="3383280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9299448" y="339598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status  VARCHAR</a:t>
            </a:r>
          </a:p>
        </p:txBody>
      </p:sp>
      <p:sp>
        <p:nvSpPr>
          <p:cNvPr id="74" name="Rectangle 73"/>
          <p:cNvSpPr/>
          <p:nvPr/>
        </p:nvSpPr>
        <p:spPr>
          <a:xfrm>
            <a:off x="9226296" y="3721608"/>
            <a:ext cx="2670048" cy="310896"/>
          </a:xfrm>
          <a:prstGeom prst="rect">
            <a:avLst/>
          </a:prstGeom>
          <a:solidFill>
            <a:srgbClr val="1A254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9299448" y="373430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bill_date  VARCHAR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226296" y="4059935"/>
            <a:ext cx="2670048" cy="310896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299448" y="4072635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E2E8F0"/>
                </a:solidFill>
                <a:latin typeface="Calibri"/>
              </a:rPr>
              <a:t>insurance_provider  VARCHAR</a:t>
            </a:r>
          </a:p>
        </p:txBody>
      </p:sp>
      <p:sp>
        <p:nvSpPr>
          <p:cNvPr id="78" name="Rectangle 77"/>
          <p:cNvSpPr/>
          <p:nvPr/>
        </p:nvSpPr>
        <p:spPr>
          <a:xfrm>
            <a:off x="274320" y="6537960"/>
            <a:ext cx="11612880" cy="54864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274320" y="6629400"/>
            <a:ext cx="2834640" cy="201168"/>
          </a:xfrm>
          <a:prstGeom prst="rect">
            <a:avLst/>
          </a:prstGeom>
          <a:solidFill>
            <a:srgbClr val="121A35"/>
          </a:solidFill>
          <a:ln w="127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274320" y="66294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4F8CFF"/>
                </a:solidFill>
                <a:latin typeface="Calibri"/>
              </a:rPr>
              <a:t>Patient  1:N  Appointment</a:t>
            </a:r>
          </a:p>
        </p:txBody>
      </p:sp>
      <p:sp>
        <p:nvSpPr>
          <p:cNvPr id="81" name="Rectangle 80"/>
          <p:cNvSpPr/>
          <p:nvPr/>
        </p:nvSpPr>
        <p:spPr>
          <a:xfrm>
            <a:off x="3246120" y="6629400"/>
            <a:ext cx="2834640" cy="201168"/>
          </a:xfrm>
          <a:prstGeom prst="rect">
            <a:avLst/>
          </a:prstGeom>
          <a:solidFill>
            <a:srgbClr val="121A3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3246120" y="66294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  <a:latin typeface="Calibri"/>
              </a:rPr>
              <a:t>Doctor  1:N  Appointment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217920" y="6629400"/>
            <a:ext cx="2834640" cy="201168"/>
          </a:xfrm>
          <a:prstGeom prst="rect">
            <a:avLst/>
          </a:prstGeom>
          <a:solidFill>
            <a:srgbClr val="121A35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217920" y="66294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A855F7"/>
                </a:solidFill>
                <a:latin typeface="Calibri"/>
              </a:rPr>
              <a:t>Appointment  1:1  Billing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189720" y="6629400"/>
            <a:ext cx="2834640" cy="201168"/>
          </a:xfrm>
          <a:prstGeom prst="rect">
            <a:avLst/>
          </a:prstGeom>
          <a:solidFill>
            <a:srgbClr val="121A3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189720" y="662940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472B6"/>
                </a:solidFill>
                <a:latin typeface="Calibri"/>
              </a:rPr>
              <a:t>Patient  1:N  Billing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12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Deployment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Calibri"/>
              </a:rPr>
              <a:t>Local, Docker, and Cloud deployment options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379476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554480"/>
            <a:ext cx="3794760" cy="457200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1E"/>
                </a:solidFill>
                <a:latin typeface="Calibri"/>
              </a:rPr>
              <a:t>🖥️  Local JAR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121408"/>
            <a:ext cx="3566160" cy="438912"/>
          </a:xfrm>
          <a:prstGeom prst="rect">
            <a:avLst/>
          </a:prstGeom>
          <a:solidFill>
            <a:srgbClr val="080D18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" y="2121408"/>
            <a:ext cx="3456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java -jar target/management-0.0.1-SNAPSHOT.jar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265176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Zero setup — run directly on any Java 21 JVM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H2 file persists data to ./hospital_db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Access at http://localhost:8080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Ideal for development and demos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554480"/>
            <a:ext cx="379476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51959" y="1554480"/>
            <a:ext cx="3794760" cy="457200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43399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1E"/>
                </a:solidFill>
                <a:latin typeface="Calibri"/>
              </a:rPr>
              <a:t>🐳  Docker Compose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399" y="2121408"/>
            <a:ext cx="3566160" cy="438912"/>
          </a:xfrm>
          <a:prstGeom prst="rect">
            <a:avLst/>
          </a:prstGeom>
          <a:solidFill>
            <a:srgbClr val="080D18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16551" y="2121408"/>
            <a:ext cx="3456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docker compose up --build -d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265176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Multi-stage Dockerfile for optimized image size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Volume mount for H2 persistence across restarts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Non-root spring user for security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Port 8080 mapped to host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554480"/>
            <a:ext cx="379476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1554480"/>
            <a:ext cx="3794760" cy="457200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F1E"/>
                </a:solidFill>
                <a:latin typeface="Calibri"/>
              </a:rPr>
              <a:t>☁️  Render (Cloud)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2121408"/>
            <a:ext cx="3566160" cy="438912"/>
          </a:xfrm>
          <a:prstGeom prst="rect">
            <a:avLst/>
          </a:prstGeom>
          <a:solidFill>
            <a:srgbClr val="080D18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94192" y="2121408"/>
            <a:ext cx="3456432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ourier New"/>
              </a:rPr>
              <a:t>render.yaml auto-detected on push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51760"/>
            <a:ext cx="3520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Connected via GitHub repo webhook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Build: ./mvnw clean package -DskipTests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Start: java -Dspring.profiles.active=prod -jar ...</a:t>
            </a:r>
          </a:p>
          <a:p>
            <a:pPr algn="l"/>
            <a:r>
              <a:rPr sz="1100">
                <a:solidFill>
                  <a:srgbClr val="E2E8F0"/>
                </a:solidFill>
                <a:latin typeface="Calibri"/>
              </a:rPr>
              <a:t>✦ Free tier — public HTTPS URL assigned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6473952"/>
            <a:ext cx="11612880" cy="329184"/>
          </a:xfrm>
          <a:prstGeom prst="rect">
            <a:avLst/>
          </a:prstGeom>
          <a:solidFill>
            <a:srgbClr val="002D22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74320" y="6473952"/>
            <a:ext cx="91440" cy="329184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492240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✅  BUILD SUCCESS — JAR verified: ./mvnw clean package -DskipTests  → target/management-0.0.1-SNAPSHOT.jar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13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417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008" cy="1417320"/>
          </a:xfrm>
          <a:prstGeom prst="rect">
            <a:avLst/>
          </a:prstGeom>
          <a:solidFill>
            <a:srgbClr val="F472B6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64592"/>
            <a:ext cx="11430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Real-World Evaluation &amp;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841248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472B6"/>
                </a:solidFill>
                <a:latin typeface="Calibri"/>
              </a:rPr>
              <a:t>Clinical validation and planned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554480"/>
            <a:ext cx="557784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4F8CFF"/>
                </a:solidFill>
                <a:latin typeface="Calibri"/>
              </a:rPr>
              <a:t>🏥  Clinical Evaluation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9456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Kalyan Hospital, Raipur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4203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Dr. Sameer Sen — Senior Medical Officer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81635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◆ Operational appointment monitoring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◆ Doctor availability tracking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◆ Real-time patient record retrieval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749039"/>
            <a:ext cx="5029200" cy="18288"/>
          </a:xfrm>
          <a:prstGeom prst="rect">
            <a:avLst/>
          </a:prstGeom>
          <a:solidFill>
            <a:srgbClr val="A855F7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840480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55F7"/>
                </a:solidFill>
                <a:latin typeface="Calibri"/>
              </a:rPr>
              <a:t>BSP Sector 7 General Hospital, Raipur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18795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  <a:latin typeface="Calibri"/>
              </a:rPr>
              <a:t>Sister Mini Kurian — Chief Nursing Superintendent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462272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◆ Patient registration and ward allocations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◆ Billing and invoice audits</a:t>
            </a:r>
          </a:p>
          <a:p>
            <a:pPr algn="l"/>
            <a:r>
              <a:rPr sz="1050">
                <a:solidFill>
                  <a:srgbClr val="E2E8F0"/>
                </a:solidFill>
                <a:latin typeface="Calibri"/>
              </a:rPr>
              <a:t>◆ Ward nurse shift logging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5440680"/>
            <a:ext cx="1170432" cy="731520"/>
          </a:xfrm>
          <a:prstGeom prst="rect">
            <a:avLst/>
          </a:prstGeom>
          <a:solidFill>
            <a:srgbClr val="0D1833"/>
          </a:solidFill>
          <a:ln w="127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54589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4F8CFF"/>
                </a:solidFill>
                <a:latin typeface="Calibri"/>
              </a:rPr>
              <a:t>~50ms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870448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Avg API Response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19072" y="5440680"/>
            <a:ext cx="1170432" cy="731520"/>
          </a:xfrm>
          <a:prstGeom prst="rect">
            <a:avLst/>
          </a:prstGeom>
          <a:solidFill>
            <a:srgbClr val="0D1833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19072" y="54589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  <a:latin typeface="Calibri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19072" y="5870448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DB Setup Steps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80944" y="5440680"/>
            <a:ext cx="1170432" cy="731520"/>
          </a:xfrm>
          <a:prstGeom prst="rect">
            <a:avLst/>
          </a:prstGeom>
          <a:solidFill>
            <a:srgbClr val="0D1833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80944" y="54589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A855F7"/>
                </a:solidFill>
                <a:latin typeface="Calibri"/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80944" y="5870448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Hospitals Evaluated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242816" y="5440680"/>
            <a:ext cx="1170432" cy="731520"/>
          </a:xfrm>
          <a:prstGeom prst="rect">
            <a:avLst/>
          </a:prstGeom>
          <a:solidFill>
            <a:srgbClr val="0D1833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42816" y="5458968"/>
            <a:ext cx="1170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472B6"/>
                </a:solidFill>
                <a:latin typeface="Calibri"/>
              </a:rP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42816" y="5870448"/>
            <a:ext cx="117043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94A3B8"/>
                </a:solidFill>
                <a:latin typeface="Calibri"/>
              </a:rPr>
              <a:t>Build Pass Rate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72200" y="1554480"/>
            <a:ext cx="5715000" cy="502920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55080" y="169164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D4AA"/>
                </a:solidFill>
                <a:latin typeface="Calibri"/>
              </a:rPr>
              <a:t>🔮  Future Scope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219456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Role-based authentication — Admin, Doctor, Nurse portals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PostgreSQL / MySQL migration for multi-hospital support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Real payment gateway integration (Razorpay / Stripe)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Mobile-responsive Progressive Web App (PWA) with offline mode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WhatsApp / SMS appointment reminders via Twilio API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Electronic Health Records (EHR) module with PDF export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AI-based diagnosis suggestion engine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Microservices split for independent scaling of modules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14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D4AA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21A35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987552"/>
            <a:ext cx="7315200" cy="5577840"/>
          </a:xfrm>
          <a:prstGeom prst="rect">
            <a:avLst/>
          </a:prstGeom>
          <a:solidFill>
            <a:srgbClr val="121A35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7040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D4AA"/>
                </a:solidFill>
                <a:latin typeface="Calibri"/>
              </a:rPr>
              <a:t>✅  What Was Achieved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949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Full-stack Spring Boot Hospital Management Platform — 0 to Production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Automated billing engine eliminates manual invoice creation on every consultation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Premium SPA dashboard with real-time analytics, charts, and dark/light theming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Deployed and validated at 2 real hospitals — Kalyan Hospital &amp; BSP Sector 7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Containerized with Docker &amp; live on Render cloud — shareable public URL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Zero database installation — H2 file-based engine with AUTO_SERVER mode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All REST APIs follow standard HTTP semantics (GET/POST/PUT/DELETE)</a:t>
            </a:r>
          </a:p>
          <a:p>
            <a:pPr algn="l"/>
            <a:r>
              <a:rPr sz="1150">
                <a:solidFill>
                  <a:srgbClr val="E2E8F0"/>
                </a:solidFill>
                <a:latin typeface="Calibri"/>
              </a:rPr>
              <a:t>◆ Built with Java 21, Spring Boot 3.4, H2, Maven, Chart.js, Vanilla JS SPA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987552"/>
            <a:ext cx="4023360" cy="5577840"/>
          </a:xfrm>
          <a:prstGeom prst="rect">
            <a:avLst/>
          </a:prstGeom>
          <a:solidFill>
            <a:srgbClr val="121A35"/>
          </a:solidFill>
          <a:ln w="1524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2801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FFFFFF"/>
                </a:solidFill>
                <a:latin typeface="Calibri"/>
              </a:rPr>
              <a:t>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0" y="1965960"/>
            <a:ext cx="4023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Thank You!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265176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  <a:latin typeface="Calibri"/>
              </a:rPr>
              <a:t>Questions &amp; Discussion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3127248"/>
            <a:ext cx="2926080" cy="36576"/>
          </a:xfrm>
          <a:prstGeom prst="rect">
            <a:avLst/>
          </a:prstGeom>
          <a:solidFill>
            <a:srgbClr val="4F8CF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3246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4F8CFF"/>
                </a:solidFill>
                <a:latin typeface="Calibri"/>
              </a:rPr>
              <a:t>S Aditya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370332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M.Sc. Computer Science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40233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  <a:latin typeface="Calibri"/>
              </a:rPr>
              <a:t>ICFAI University, Raipur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34340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00D4AA"/>
                </a:solidFill>
                <a:latin typeface="Calibri"/>
              </a:rPr>
              <a:t>Enrollment: 22STUCRPN01019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0" y="466344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Calibri"/>
              </a:rPr>
              <a:t>Session: 2024 – 26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55279" y="5212080"/>
            <a:ext cx="1783080" cy="347472"/>
          </a:xfrm>
          <a:prstGeom prst="rect">
            <a:avLst/>
          </a:prstGeom>
          <a:solidFill>
            <a:srgbClr val="121A35"/>
          </a:solidFill>
          <a:ln w="12700">
            <a:solidFill>
              <a:srgbClr val="4F8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55279" y="52120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4F8CFF"/>
                </a:solidFill>
                <a:latin typeface="Calibri"/>
              </a:rPr>
              <a:t>Java 21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29800" y="5212080"/>
            <a:ext cx="1783080" cy="347472"/>
          </a:xfrm>
          <a:prstGeom prst="rect">
            <a:avLst/>
          </a:prstGeom>
          <a:solidFill>
            <a:srgbClr val="121A35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29800" y="52120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D4AA"/>
                </a:solidFill>
                <a:latin typeface="Calibri"/>
              </a:rPr>
              <a:t>Spring Boot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55279" y="5669280"/>
            <a:ext cx="1783080" cy="347472"/>
          </a:xfrm>
          <a:prstGeom prst="rect">
            <a:avLst/>
          </a:prstGeom>
          <a:solidFill>
            <a:srgbClr val="121A35"/>
          </a:solidFill>
          <a:ln w="1270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55279" y="5669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A855F7"/>
                </a:solidFill>
                <a:latin typeface="Calibri"/>
              </a:rPr>
              <a:t>H2 + JPA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829800" y="5669280"/>
            <a:ext cx="1783080" cy="347472"/>
          </a:xfrm>
          <a:prstGeom prst="rect">
            <a:avLst/>
          </a:prstGeom>
          <a:solidFill>
            <a:srgbClr val="121A35"/>
          </a:solidFill>
          <a:ln w="127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5669280"/>
            <a:ext cx="1783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72B6"/>
                </a:solidFill>
                <a:latin typeface="Calibri"/>
              </a:rPr>
              <a:t>SPA + Chart.js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922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94A3B8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